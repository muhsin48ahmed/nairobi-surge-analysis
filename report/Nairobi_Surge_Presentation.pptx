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4" d="100"/>
          <a:sy n="84" d="100"/>
        </p:scale>
        <p:origin x="614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13321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BSc APPLIED COMPUTING — DATA SCIENCE  |  THESIS DEFENCE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645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Analysing Surge Pricing Dynamics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6974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Nairobi's Ride-Hailing Industry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658368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/>
          <p:nvPr/>
        </p:nvSpPr>
        <p:spPr>
          <a:xfrm>
            <a:off x="914400" y="3886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mixed-methods, deployment-ready decision-support framework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00600"/>
            <a:ext cx="32004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5257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Muhsin Ahmed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5715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No. 665629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4983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Date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0" y="5257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Project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5669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USIU-Africa  |  April 2026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0" y="6172200"/>
            <a:ext cx="41148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7315200" y="61722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with UN SDG 11.2 — Urban Mobility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Nairobi's ride-hailing market has grown rapidly, but surge pricing remains opaque, contested, and under-studied. Drivers, passengers, and regulators see different sides of the same algorithm — and no one has the evidence base to reconcile them.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502920" y="2606040"/>
            <a:ext cx="109728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822960" y="2788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Opaque pricing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and passengers face sudden surge multipliers with no visibility into what triggers them — the single biggest grievance across all 35 interviews.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260604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2" name="Shape 10"/>
          <p:cNvSpPr/>
          <p:nvPr/>
        </p:nvSpPr>
        <p:spPr>
          <a:xfrm>
            <a:off x="6126480" y="2606040"/>
            <a:ext cx="109728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6446520" y="27889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Affordability &amp; accessibility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46520" y="32461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Nairobi households already spend up to 35% of income on transport. Surge during emergencies or late-night travel risks pricing out the people ride-hailing is supposed to serve.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6" name="Shape 14"/>
          <p:cNvSpPr/>
          <p:nvPr/>
        </p:nvSpPr>
        <p:spPr>
          <a:xfrm>
            <a:off x="502920" y="4663440"/>
            <a:ext cx="109728" cy="18288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822960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empirical Nairobi baseline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3035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is North American or anecdotal; no large-scale, trip-level study has quantified where, when, and why surge fires across Nairobi's neighbourhoods.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26480" y="4663440"/>
            <a:ext cx="53949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6126480" y="4663440"/>
            <a:ext cx="109728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6446520" y="484632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decision-support tool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46520" y="53035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 and platforms currently have nothing between raw dashboards and proprietary algorithms — a public-interest gap this project sets out to fill.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Muhsin Ahmed  |  665629  |  DSA 4900VA  |  Nairobi Surge Analysis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Convergent mixed-methods design — quantitative + qualitative, triangulated at interpretation.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7830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20116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167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2532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3.7M trips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weather + 35 interviews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2400300"/>
            <a:ext cx="27432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13" name="Shape 11"/>
          <p:cNvSpPr/>
          <p:nvPr/>
        </p:nvSpPr>
        <p:spPr>
          <a:xfrm>
            <a:off x="2788920" y="17830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14" name="Shape 12"/>
          <p:cNvSpPr/>
          <p:nvPr/>
        </p:nvSpPr>
        <p:spPr>
          <a:xfrm>
            <a:off x="2788920" y="1783080"/>
            <a:ext cx="20116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5" name="Text 13"/>
          <p:cNvSpPr/>
          <p:nvPr/>
        </p:nvSpPr>
        <p:spPr>
          <a:xfrm>
            <a:off x="292608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26080" y="2167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926080" y="2532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Schema, GPS, outliers,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missing-data fixes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400300"/>
            <a:ext cx="27432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19" name="Shape 17"/>
          <p:cNvSpPr/>
          <p:nvPr/>
        </p:nvSpPr>
        <p:spPr>
          <a:xfrm>
            <a:off x="5074920" y="17830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1295C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5074920" y="1783080"/>
            <a:ext cx="2011680" cy="10972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521208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12080" y="2167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532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features: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time, peak, spatial, weather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400300"/>
            <a:ext cx="27432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25" name="Shape 23"/>
          <p:cNvSpPr/>
          <p:nvPr/>
        </p:nvSpPr>
        <p:spPr>
          <a:xfrm>
            <a:off x="7360920" y="17830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6" name="Shape 24"/>
          <p:cNvSpPr/>
          <p:nvPr/>
        </p:nvSpPr>
        <p:spPr>
          <a:xfrm>
            <a:off x="7360920" y="1783080"/>
            <a:ext cx="20116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7" name="Text 25"/>
          <p:cNvSpPr/>
          <p:nvPr/>
        </p:nvSpPr>
        <p:spPr>
          <a:xfrm>
            <a:off x="749808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2167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98080" y="2532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classifiers + 3 regressors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chrono split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372600" y="2400300"/>
            <a:ext cx="274320" cy="0"/>
          </a:xfrm>
          <a:prstGeom prst="line">
            <a:avLst/>
          </a:prstGeom>
          <a:noFill/>
          <a:ln w="38100">
            <a:solidFill>
              <a:srgbClr val="065A82"/>
            </a:solidFill>
            <a:prstDash val="solid"/>
            <a:tailEnd type="triangle"/>
          </a:ln>
        </p:spPr>
        <p:txBody>
          <a:bodyPr/>
          <a:lstStyle/>
          <a:p>
            <a:endParaRPr lang="en-KE"/>
          </a:p>
        </p:txBody>
      </p:sp>
      <p:sp>
        <p:nvSpPr>
          <p:cNvPr id="31" name="Shape 29"/>
          <p:cNvSpPr/>
          <p:nvPr/>
        </p:nvSpPr>
        <p:spPr>
          <a:xfrm>
            <a:off x="9646920" y="1783080"/>
            <a:ext cx="201168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2" name="Shape 30"/>
          <p:cNvSpPr/>
          <p:nvPr/>
        </p:nvSpPr>
        <p:spPr>
          <a:xfrm>
            <a:off x="9646920" y="1783080"/>
            <a:ext cx="2011680" cy="1097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31"/>
          <p:cNvSpPr/>
          <p:nvPr/>
        </p:nvSpPr>
        <p:spPr>
          <a:xfrm>
            <a:off x="9784080" y="196596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9784080" y="21671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784080" y="2532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(app/app.py)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3429000"/>
            <a:ext cx="36118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37" name="Shape 35"/>
          <p:cNvSpPr/>
          <p:nvPr/>
        </p:nvSpPr>
        <p:spPr>
          <a:xfrm>
            <a:off x="502920" y="3429000"/>
            <a:ext cx="361188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8" name="Text 36"/>
          <p:cNvSpPr/>
          <p:nvPr/>
        </p:nvSpPr>
        <p:spPr>
          <a:xfrm>
            <a:off x="731520" y="3429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31520" y="397764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3,703,406 records (Jan–Jul 2024)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hourly archive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drivers + 15 passengers + 5 experts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IRB-approved  |  Kenya DPA 2019  |  NDA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297680" y="3429000"/>
            <a:ext cx="36118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1" name="Shape 39"/>
          <p:cNvSpPr/>
          <p:nvPr/>
        </p:nvSpPr>
        <p:spPr>
          <a:xfrm>
            <a:off x="4297680" y="3429000"/>
            <a:ext cx="361188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2" name="Text 40"/>
          <p:cNvSpPr/>
          <p:nvPr/>
        </p:nvSpPr>
        <p:spPr>
          <a:xfrm>
            <a:off x="4526280" y="3429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techniques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4526280" y="397764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spatial, weather profiling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Mann–Whitney U, ANOVA (p&lt;0.001)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LogReg, Tree, RF, XGB, LGBM, MLP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DBSCAN, choropleth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8092440" y="3429000"/>
            <a:ext cx="361188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45" name="Shape 43"/>
          <p:cNvSpPr/>
          <p:nvPr/>
        </p:nvSpPr>
        <p:spPr>
          <a:xfrm>
            <a:off x="8092440" y="3429000"/>
            <a:ext cx="3611880" cy="4114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46" name="Text 44"/>
          <p:cNvSpPr/>
          <p:nvPr/>
        </p:nvSpPr>
        <p:spPr>
          <a:xfrm>
            <a:off x="8321040" y="3429000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8321040" y="3977640"/>
            <a:ext cx="31546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80/20 + 5-fold TS-CV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Audited — 4 target derivatives removed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0.3–0.6 for precision/recall trade</a:t>
            </a:r>
            <a:endParaRPr lang="en-US" sz="11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</a:t>
            </a: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interviews triangulated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Muhsin Ahmed  |  665629  |  DSA 4900VA  |  Nairobi Surge Analysis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&amp; Live Demo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6517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7" name="Text 5"/>
          <p:cNvSpPr/>
          <p:nvPr/>
        </p:nvSpPr>
        <p:spPr>
          <a:xfrm>
            <a:off x="64008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0.713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classifier ROC-AUC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517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0" name="Text 8"/>
          <p:cNvSpPr/>
          <p:nvPr/>
        </p:nvSpPr>
        <p:spPr>
          <a:xfrm>
            <a:off x="347472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0.133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7472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regressor RMSE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72200" y="1280160"/>
            <a:ext cx="26517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3" name="Text 11"/>
          <p:cNvSpPr/>
          <p:nvPr/>
        </p:nvSpPr>
        <p:spPr>
          <a:xfrm>
            <a:off x="630936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46.4%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0936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 — top-neighbourhood surge 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006840" y="1280160"/>
            <a:ext cx="2651760" cy="8686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6" name="Text 14"/>
          <p:cNvSpPr/>
          <p:nvPr/>
        </p:nvSpPr>
        <p:spPr>
          <a:xfrm>
            <a:off x="9144000" y="13258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+70%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0" y="1828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vs. morning peak surge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33172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19" name="Image 0" descr="/sessions/funny-elegant-brown/mnt/last_DataScienceProject/outputs/figures/surge_by_hour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6072" y="2404872"/>
            <a:ext cx="3374136" cy="146304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02920" y="3913632"/>
            <a:ext cx="35204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8"/>
          <p:cNvSpPr/>
          <p:nvPr/>
        </p:nvSpPr>
        <p:spPr>
          <a:xfrm>
            <a:off x="640080" y="39136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 (17:00–20:00) dominates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160520" y="233172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23" name="Image 1" descr="/sessions/funny-elegant-brown/mnt/last_DataScienceProject/outputs/figures/neighborhood_choropleth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33672" y="2404872"/>
            <a:ext cx="3374136" cy="146304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4160520" y="3913632"/>
            <a:ext cx="352044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5" name="Text 21"/>
          <p:cNvSpPr/>
          <p:nvPr/>
        </p:nvSpPr>
        <p:spPr>
          <a:xfrm>
            <a:off x="4297680" y="391363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CBD, Westlands, Karen, Kilimani top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2920" y="443484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27" name="Image 2" descr="/sessions/funny-elegant-brown/mnt/last_DataScienceProject/outputs/figures/clf_roc_curv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76072" y="4507992"/>
            <a:ext cx="3374136" cy="146304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502920" y="6016752"/>
            <a:ext cx="3520440" cy="384048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9" name="Text 24"/>
          <p:cNvSpPr/>
          <p:nvPr/>
        </p:nvSpPr>
        <p:spPr>
          <a:xfrm>
            <a:off x="640080" y="60167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ROC-AUC = 0.713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160520" y="4434840"/>
            <a:ext cx="352044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76200" dist="1905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pic>
        <p:nvPicPr>
          <p:cNvPr id="31" name="Image 3" descr="/sessions/funny-elegant-brown/mnt/last_DataScienceProject/outputs/figures/clf_importance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233672" y="4507992"/>
            <a:ext cx="3374136" cy="1463040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4160520" y="6016752"/>
            <a:ext cx="352044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3" name="Text 27"/>
          <p:cNvSpPr/>
          <p:nvPr/>
        </p:nvSpPr>
        <p:spPr>
          <a:xfrm>
            <a:off x="4297680" y="601675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drivers: hour, rain, neighbourhood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818120" y="2331720"/>
            <a:ext cx="3840480" cy="406908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5" name="Text 29"/>
          <p:cNvSpPr/>
          <p:nvPr/>
        </p:nvSpPr>
        <p:spPr>
          <a:xfrm>
            <a:off x="8046720" y="2514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8046720" y="2788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evidence shows</a:t>
            </a:r>
            <a:endParaRPr lang="en-US" sz="1800" dirty="0"/>
          </a:p>
        </p:txBody>
      </p:sp>
      <p:sp>
        <p:nvSpPr>
          <p:cNvPr id="37" name="Text 31"/>
          <p:cNvSpPr/>
          <p:nvPr/>
        </p:nvSpPr>
        <p:spPr>
          <a:xfrm>
            <a:off x="8046720" y="3246120"/>
            <a:ext cx="33832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is time-driven.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peaks run ~70% higher than morning; Fri/Sat evenings top the week.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amplifies surge.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in 4 trips hit rain; Mann–Whitney U confirms larger multipliers (p&lt;0.001).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Spatially concentrated.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Karen, Westlands, Kilimani, CBD surge at 2× the citywide rate of 19%.</a:t>
            </a:r>
            <a:endParaRPr lang="en-US" sz="11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ensembles win.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beats LogReg / Tree / MLP; XGBoost leads regression.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8046720" y="5897880"/>
            <a:ext cx="338328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9" name="Text 33"/>
          <p:cNvSpPr/>
          <p:nvPr/>
        </p:nvSpPr>
        <p:spPr>
          <a:xfrm>
            <a:off x="8046720" y="5897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— Streamlit dashboard (app/app.py)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5029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Muhsin Ahmed  |  665629  |  DSA 4900VA  |  Nairobi Surge Analysis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50292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Recommendations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02920" y="1024128"/>
            <a:ext cx="11155680" cy="32004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5486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7" name="Shape 5"/>
          <p:cNvSpPr/>
          <p:nvPr/>
        </p:nvSpPr>
        <p:spPr>
          <a:xfrm>
            <a:off x="502920" y="1325880"/>
            <a:ext cx="5486400" cy="5486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/>
          <p:nvPr/>
        </p:nvSpPr>
        <p:spPr>
          <a:xfrm>
            <a:off x="777240" y="1325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made this hard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 opacity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17320" y="25146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never published its internal surge formula, so no ground-truth comparison was possible. R² sits in single digits because much of the variance is unobservable from outside the platform.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41732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leakage risk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3931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candidate features (surge_event, surged, surge_multiplier) were direct derivatives of the target. A formal leakage audit was built and four columns were removed before any model training.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417320" y="4937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imbalance &amp; calibration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17320" y="5349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 is a minority event. The default 0.5 threshold produced recall of only 0.234; a threshold sweep between 0.3–0.6 was needed to expose the precision-recall trade-off for operators.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1325880"/>
            <a:ext cx="54864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KE"/>
          </a:p>
        </p:txBody>
      </p:sp>
      <p:sp>
        <p:nvSpPr>
          <p:cNvPr id="20" name="Shape 18"/>
          <p:cNvSpPr/>
          <p:nvPr/>
        </p:nvSpPr>
        <p:spPr>
          <a:xfrm>
            <a:off x="6172200" y="1325880"/>
            <a:ext cx="5486400" cy="5486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21" name="Text 19"/>
          <p:cNvSpPr/>
          <p:nvPr/>
        </p:nvSpPr>
        <p:spPr>
          <a:xfrm>
            <a:off x="6446520" y="1325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WORK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46520" y="1645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this goes next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086600" y="21031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Multi-platform, multi-year data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251460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pipeline to Bolt, Little Cab, and Yango over 24+ months to capture long/short rains, festivals, and cross-platform variation in surge behaviour.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46520" y="3474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0866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feeds &amp; causal inference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086600" y="393192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live weather, traffic, and event streams to lift the R² ceiling, and use diff-in-diff / IV designs around regulatory shocks to turn predictive results into causal estimates.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892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086600" y="4937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&amp; platform interventions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086600" y="534924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transparency tiles, soft neighbourhood-level surge caps (e.g., ~40%), and driver-facing heat maps. Extend the framework to Kampala, Dar es Salaam, and Kigali for regional comparison.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Muhsin Ahmed  |  665629  |  DSA 4900A  |  Nairobi Surge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 |  SLIDE 6 OF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051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reusable baseline for Nairobi's surge economy.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3200400" cy="274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produced the first large-scale, leakage-audited empirical account of surge pricing in Nairobi — combining 3.7 million anonymised trips, hourly weather, and 35 interviews into a reproducible mixed-methods pipeline. All four hypotheses were supported: surge is demand-sensitive, weather-reactive, spatially concentrated, and best modelled by tree ensembles. The Random Forest classifier (ROC-AUC 0.713) and XGBoost regressor (RMSE 0.133) met the predictive objectives, while the Streamlit dashboard operationalised the findings for regulators, platforms, drivers, and passengers. Together, the outputs form a public-interest prototype aligned with SDG 11.2 — a concrete step toward transparent, equitable urban mobility in Nairobi.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3429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8" name="Text 6"/>
          <p:cNvSpPr/>
          <p:nvPr/>
        </p:nvSpPr>
        <p:spPr>
          <a:xfrm>
            <a:off x="100584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5440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3.7M trips + 35 interviews, triangulated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5074920"/>
            <a:ext cx="3429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1" name="Text 9"/>
          <p:cNvSpPr/>
          <p:nvPr/>
        </p:nvSpPr>
        <p:spPr>
          <a:xfrm>
            <a:off x="461772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17720" y="5440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0.713 AUC  |  XGBoost 0.133 RMSE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5074920"/>
            <a:ext cx="34290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4" name="Text 12"/>
          <p:cNvSpPr/>
          <p:nvPr/>
        </p:nvSpPr>
        <p:spPr>
          <a:xfrm>
            <a:off x="8229600" y="512064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9600" y="544068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— ready to demo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6035040"/>
            <a:ext cx="1051560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KE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!!!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1014</Words>
  <Application>Microsoft Office PowerPoint</Application>
  <PresentationFormat>Widescreen</PresentationFormat>
  <Paragraphs>129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Nairobi Surge Analysis</dc:title>
  <dc:subject>OSA 4900A Thesis Defense</dc:subject>
  <dc:creator>Muhsin Ahmed</dc:creator>
  <cp:lastModifiedBy>Mohamed B    Ali</cp:lastModifiedBy>
  <cp:revision>6</cp:revision>
  <dcterms:created xsi:type="dcterms:W3CDTF">2026-04-20T14:05:03Z</dcterms:created>
  <dcterms:modified xsi:type="dcterms:W3CDTF">2026-04-21T13:49:44Z</dcterms:modified>
</cp:coreProperties>
</file>